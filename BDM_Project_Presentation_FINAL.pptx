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FFFFCC"/>
    <a:srgbClr val="FFFF99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20" d="100"/>
          <a:sy n="120" d="100"/>
        </p:scale>
        <p:origin x="-370" y="283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4D3B7-CF4C-4CF1-AE3D-E3BBEBD61F9B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14DA6-E830-4128-8E8C-FA75CB5A04C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514DA6-E830-4128-8E8C-FA75CB5A04C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30" y="0"/>
            <a:ext cx="3038475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2503170"/>
            <a:ext cx="6480048" cy="172593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158609"/>
            <a:ext cx="6480048" cy="131445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30" y="0"/>
            <a:ext cx="3038475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687878"/>
            <a:ext cx="6629400" cy="1369772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864350"/>
            <a:ext cx="6629400" cy="800016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67600" cy="85725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3657600" cy="339447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200151"/>
            <a:ext cx="3657600" cy="339447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114800"/>
            <a:ext cx="4040188" cy="62865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30" y="4114800"/>
            <a:ext cx="4041775" cy="62865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137685"/>
            <a:ext cx="4040188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1137685"/>
            <a:ext cx="4041775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740"/>
            <a:ext cx="7470648" cy="85725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89147"/>
            <a:ext cx="3200400" cy="547688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60818"/>
            <a:ext cx="2743200" cy="6858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485900"/>
            <a:ext cx="7086600" cy="2857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4816548"/>
            <a:ext cx="762000" cy="27384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279282"/>
            <a:ext cx="3053868" cy="940356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764930"/>
            <a:ext cx="4114800" cy="30861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249074"/>
            <a:ext cx="3053866" cy="199761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816548"/>
            <a:ext cx="2133600" cy="273844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67600" cy="85725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74676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4816548"/>
            <a:ext cx="2133600" cy="273844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4816548"/>
            <a:ext cx="2895600" cy="273844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4816548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6154" y="63024"/>
            <a:ext cx="7772400" cy="967991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 smtClean="0"/>
              <a:t>Revenue Optimization and Demand Forecasting Analysis of a Dairy Firm</a:t>
            </a:r>
            <a:endParaRPr sz="2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9666" y="3998190"/>
            <a:ext cx="6400804" cy="1032167"/>
          </a:xfrm>
        </p:spPr>
        <p:txBody>
          <a:bodyPr>
            <a:normAutofit fontScale="85000" lnSpcReduction="10000"/>
          </a:bodyPr>
          <a:lstStyle/>
          <a:p>
            <a:pPr algn="ctr"/>
            <a:r>
              <a:rPr lang="en-IN" sz="2400" b="1" dirty="0" smtClean="0">
                <a:solidFill>
                  <a:schemeClr val="tx1"/>
                </a:solidFill>
              </a:rPr>
              <a:t>IITM BS Degree Program</a:t>
            </a:r>
          </a:p>
          <a:p>
            <a:pPr algn="ctr"/>
            <a:r>
              <a:rPr lang="en-IN" sz="2400" b="1" dirty="0" smtClean="0">
                <a:solidFill>
                  <a:schemeClr val="tx1"/>
                </a:solidFill>
              </a:rPr>
              <a:t>Indian Institute of Technology Madras, Chennai</a:t>
            </a:r>
          </a:p>
          <a:p>
            <a:pPr algn="ctr"/>
            <a:r>
              <a:rPr lang="en-IN" sz="2400" b="1" dirty="0" smtClean="0">
                <a:solidFill>
                  <a:schemeClr val="tx1"/>
                </a:solidFill>
              </a:rPr>
              <a:t> Tamil Nadu, India, 600036</a:t>
            </a:r>
            <a:endParaRPr sz="2400" b="1" dirty="0">
              <a:solidFill>
                <a:schemeClr val="tx1"/>
              </a:solidFill>
            </a:endParaRPr>
          </a:p>
        </p:txBody>
      </p:sp>
      <p:pic>
        <p:nvPicPr>
          <p:cNvPr id="7" name="Picture 6" descr="IIT_Madras_Logo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300" y="1850212"/>
            <a:ext cx="2164080" cy="2073206"/>
          </a:xfrm>
          <a:prstGeom prst="rect">
            <a:avLst/>
          </a:prstGeom>
        </p:spPr>
      </p:pic>
      <p:sp>
        <p:nvSpPr>
          <p:cNvPr id="8" name="Subtitle 2"/>
          <p:cNvSpPr txBox="1">
            <a:spLocks/>
          </p:cNvSpPr>
          <p:nvPr/>
        </p:nvSpPr>
        <p:spPr>
          <a:xfrm>
            <a:off x="1331556" y="901544"/>
            <a:ext cx="6400804" cy="103216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Presentation for BDM Capstone</a:t>
            </a:r>
            <a:r>
              <a:rPr kumimoji="0" lang="en-US" sz="2400" b="1" i="0" u="none" strike="noStrike" kern="1200" cap="none" spc="0" normalizeH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Project by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IN" sz="2400" b="1" baseline="0" dirty="0" smtClean="0">
                <a:solidFill>
                  <a:srgbClr val="C00000"/>
                </a:solidFill>
              </a:rPr>
              <a:t>Name</a:t>
            </a:r>
            <a:r>
              <a:rPr lang="en-IN" sz="2400" b="1" dirty="0" smtClean="0">
                <a:solidFill>
                  <a:srgbClr val="C00000"/>
                </a:solidFill>
              </a:rPr>
              <a:t> : </a:t>
            </a:r>
            <a:r>
              <a:rPr lang="en-IN" sz="2400" b="1" dirty="0" err="1" smtClean="0">
                <a:solidFill>
                  <a:srgbClr val="C00000"/>
                </a:solidFill>
              </a:rPr>
              <a:t>Abhay</a:t>
            </a:r>
            <a:r>
              <a:rPr lang="en-IN" sz="2400" b="1" dirty="0" smtClean="0">
                <a:solidFill>
                  <a:srgbClr val="C00000"/>
                </a:solidFill>
              </a:rPr>
              <a:t> </a:t>
            </a:r>
            <a:r>
              <a:rPr lang="en-IN" sz="2400" b="1" dirty="0" err="1" smtClean="0">
                <a:solidFill>
                  <a:srgbClr val="C00000"/>
                </a:solidFill>
              </a:rPr>
              <a:t>Sahu</a:t>
            </a:r>
            <a:endParaRPr lang="en-IN" sz="2400" b="1" dirty="0" smtClean="0">
              <a:solidFill>
                <a:srgbClr val="C00000"/>
              </a:solidFill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Roll</a:t>
            </a:r>
            <a:r>
              <a:rPr kumimoji="0" lang="en-IN" sz="2400" b="1" i="0" u="none" strike="noStrike" kern="120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No : 23f1001119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766182" y="4784353"/>
            <a:ext cx="34924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en-US" sz="1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313781" y="3488502"/>
            <a:ext cx="3683974" cy="1205418"/>
          </a:xfrm>
          <a:prstGeom prst="round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9"/>
            <a:ext cx="8229600" cy="857250"/>
          </a:xfrm>
        </p:spPr>
        <p:txBody>
          <a:bodyPr>
            <a:noAutofit/>
          </a:bodyPr>
          <a:lstStyle/>
          <a:p>
            <a:pPr algn="ctr"/>
            <a:r>
              <a:rPr lang="en-US" sz="2800" dirty="0" smtClean="0">
                <a:latin typeface="Algerian" pitchFamily="82" charset="0"/>
              </a:rPr>
              <a:t>BRIEF OVERVIEW OF SHREE MAA DAIRY</a:t>
            </a:r>
            <a:endParaRPr sz="2800" dirty="0">
              <a:latin typeface="Algerian" pitchFamily="8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2565" y="3491353"/>
            <a:ext cx="340942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Product</a:t>
            </a:r>
          </a:p>
          <a:p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Fresh Milk, Full Fat Milk(500 ml), </a:t>
            </a:r>
            <a:r>
              <a:rPr lang="en-US" sz="12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Neno</a:t>
            </a: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Milk(200ml), Loose Milk, </a:t>
            </a:r>
            <a:r>
              <a:rPr lang="en-US" sz="12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Sada</a:t>
            </a: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Mattha</a:t>
            </a: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/</a:t>
            </a:r>
            <a:r>
              <a:rPr lang="en-US" sz="12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Masala</a:t>
            </a: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, </a:t>
            </a:r>
            <a:r>
              <a:rPr lang="en-US" sz="12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Lassi</a:t>
            </a: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Cup, Ghee Tin(15 Kg), Ghee(1 L), Ghee(450 ml), </a:t>
            </a:r>
            <a:r>
              <a:rPr lang="en-US" sz="12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Dahi</a:t>
            </a: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Cup/Pouch, </a:t>
            </a:r>
            <a:r>
              <a:rPr lang="en-US" sz="12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Srikhand</a:t>
            </a: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cup, </a:t>
            </a:r>
            <a:r>
              <a:rPr lang="en-US" sz="12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Panner</a:t>
            </a:r>
            <a:r>
              <a:rPr lang="en-US" sz="12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endParaRPr lang="en-US" sz="1200" b="1" dirty="0">
              <a:solidFill>
                <a:schemeClr val="bg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95252" y="967729"/>
            <a:ext cx="4101997" cy="1205876"/>
            <a:chOff x="281940" y="1247764"/>
            <a:chExt cx="4101997" cy="1205876"/>
          </a:xfrm>
        </p:grpSpPr>
        <p:sp>
          <p:nvSpPr>
            <p:cNvPr id="7" name="Rounded Rectangle 6"/>
            <p:cNvSpPr/>
            <p:nvPr/>
          </p:nvSpPr>
          <p:spPr>
            <a:xfrm>
              <a:off x="533400" y="1247764"/>
              <a:ext cx="3634740" cy="1205876"/>
            </a:xfrm>
            <a:prstGeom prst="roundRect">
              <a:avLst/>
            </a:prstGeom>
            <a:solidFill>
              <a:srgbClr val="00B050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81940" y="1356360"/>
              <a:ext cx="4101997" cy="984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Details</a:t>
              </a:r>
              <a:endParaRPr lang="en-US" sz="14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Name : Shree </a:t>
              </a:r>
              <a:r>
                <a:rPr lang="en-US" sz="1400" dirty="0" err="1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Maa</a:t>
              </a: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 Dairy(APRA MILK)</a:t>
              </a:r>
            </a:p>
            <a:p>
              <a:pPr algn="ctr"/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Owner : Mr. </a:t>
              </a:r>
              <a:r>
                <a:rPr lang="en-US" sz="1400" dirty="0" err="1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Amitabh</a:t>
              </a: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Nagaria</a:t>
              </a:r>
              <a:endParaRPr lang="en-US" sz="14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endParaRPr>
            </a:p>
            <a:p>
              <a:pPr algn="ctr"/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Timing : 07 : 00AM to 09:00PM</a:t>
              </a:r>
              <a:endPara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22045" y="2324102"/>
            <a:ext cx="3775710" cy="1005959"/>
            <a:chOff x="244905" y="2301240"/>
            <a:chExt cx="3775710" cy="1005959"/>
          </a:xfrm>
        </p:grpSpPr>
        <p:sp>
          <p:nvSpPr>
            <p:cNvPr id="6" name="Rounded Rectangle 5"/>
            <p:cNvSpPr/>
            <p:nvPr/>
          </p:nvSpPr>
          <p:spPr>
            <a:xfrm>
              <a:off x="346711" y="2301240"/>
              <a:ext cx="3649980" cy="1005959"/>
            </a:xfrm>
            <a:prstGeom prst="roundRect">
              <a:avLst/>
            </a:prstGeom>
            <a:solidFill>
              <a:srgbClr val="00B050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44905" y="2362200"/>
              <a:ext cx="3775710" cy="7694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Location</a:t>
              </a:r>
            </a:p>
            <a:p>
              <a:pPr algn="ctr"/>
              <a:r>
                <a:rPr lang="en-US" sz="1400" dirty="0" err="1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Yamunotri</a:t>
              </a: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, Village </a:t>
              </a:r>
              <a:r>
                <a:rPr lang="en-US" sz="1400" dirty="0" err="1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Naiguan</a:t>
              </a: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, </a:t>
              </a:r>
              <a:r>
                <a:rPr lang="en-US" sz="1400" dirty="0" err="1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ghughwa</a:t>
              </a: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 , </a:t>
              </a:r>
              <a:r>
                <a:rPr lang="en-US" sz="1400" dirty="0" err="1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hansi</a:t>
              </a: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Tehsil</a:t>
              </a: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 </a:t>
              </a:r>
              <a:r>
                <a:rPr lang="en-US" sz="1400" dirty="0" err="1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Niwari</a:t>
              </a: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 Jhansi , </a:t>
              </a:r>
              <a:r>
                <a:rPr lang="en-US" sz="1400" dirty="0" err="1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uttar</a:t>
              </a: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 Pradesh, 284201</a:t>
              </a:r>
              <a:endPara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endParaRPr>
            </a:p>
          </p:txBody>
        </p:sp>
      </p:grpSp>
      <p:pic>
        <p:nvPicPr>
          <p:cNvPr id="13" name="Picture 12" descr="WhatsApp Image 2025-11-06 at 14.13.37_8f277c1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649" y="1287171"/>
            <a:ext cx="3588603" cy="269834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766182" y="4784353"/>
            <a:ext cx="34924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en-US" sz="1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7001"/>
            <a:ext cx="8229600" cy="574279"/>
          </a:xfrm>
        </p:spPr>
        <p:txBody>
          <a:bodyPr>
            <a:noAutofit/>
          </a:bodyPr>
          <a:lstStyle/>
          <a:p>
            <a:pPr algn="ctr"/>
            <a:r>
              <a:rPr lang="en-IN" sz="3200" dirty="0" smtClean="0">
                <a:latin typeface="Algerian" pitchFamily="82" charset="0"/>
              </a:rPr>
              <a:t>INTRODUCTION</a:t>
            </a:r>
            <a:endParaRPr sz="3200" dirty="0">
              <a:latin typeface="Algerian" pitchFamily="82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46050" y="2171703"/>
            <a:ext cx="3962400" cy="1319273"/>
            <a:chOff x="279400" y="831850"/>
            <a:chExt cx="3962400" cy="1574024"/>
          </a:xfrm>
        </p:grpSpPr>
        <p:sp>
          <p:nvSpPr>
            <p:cNvPr id="5" name="Rounded Rectangle 4"/>
            <p:cNvSpPr/>
            <p:nvPr/>
          </p:nvSpPr>
          <p:spPr>
            <a:xfrm>
              <a:off x="279400" y="831850"/>
              <a:ext cx="3803650" cy="1301750"/>
            </a:xfrm>
            <a:prstGeom prst="roundRect">
              <a:avLst/>
            </a:prstGeom>
            <a:solidFill>
              <a:srgbClr val="00B050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00990" y="863600"/>
              <a:ext cx="3940810" cy="15422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buNone/>
                <a:defRPr sz="2400"/>
              </a:pPr>
              <a:r>
                <a:rPr lang="en-IN" sz="1600" b="1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Problem Statement</a:t>
              </a:r>
            </a:p>
            <a:p>
              <a:pPr>
                <a:buFont typeface="Arial" pitchFamily="34" charset="0"/>
                <a:buChar char="•"/>
                <a:defRPr sz="2400"/>
              </a:pP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 The problem of reaching a large customer base</a:t>
              </a:r>
            </a:p>
            <a:p>
              <a:pPr>
                <a:buFont typeface="Arial" pitchFamily="34" charset="0"/>
                <a:buChar char="•"/>
                <a:defRPr sz="2400"/>
              </a:pP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 Spoilage due to overstocking</a:t>
              </a:r>
            </a:p>
            <a:p>
              <a:pPr>
                <a:buFont typeface="Arial" pitchFamily="34" charset="0"/>
                <a:buChar char="•"/>
                <a:defRPr sz="2400"/>
              </a:pP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 Seasonal demand fluctuations</a:t>
              </a:r>
              <a:endParaRPr lang="en-IN" sz="14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endParaRPr>
            </a:p>
            <a:p>
              <a:pPr algn="ctr">
                <a:buNone/>
                <a:defRPr sz="2400"/>
              </a:pPr>
              <a:endParaRPr lang="en-US" sz="2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931271" y="803276"/>
            <a:ext cx="3901583" cy="1127124"/>
            <a:chOff x="5093298" y="1114425"/>
            <a:chExt cx="3407221" cy="1152525"/>
          </a:xfrm>
        </p:grpSpPr>
        <p:sp>
          <p:nvSpPr>
            <p:cNvPr id="10" name="Rounded Rectangle 9"/>
            <p:cNvSpPr/>
            <p:nvPr/>
          </p:nvSpPr>
          <p:spPr>
            <a:xfrm>
              <a:off x="5093298" y="1114425"/>
              <a:ext cx="3346446" cy="1152525"/>
            </a:xfrm>
            <a:prstGeom prst="roundRect">
              <a:avLst/>
            </a:prstGeom>
            <a:solidFill>
              <a:srgbClr val="00B050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116271" y="1156155"/>
              <a:ext cx="3384248" cy="10070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Data Sources</a:t>
              </a:r>
              <a:endParaRPr lang="en-US" sz="14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endParaRPr>
            </a:p>
            <a:p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Primary sales data collected from Shree </a:t>
              </a:r>
              <a:r>
                <a:rPr lang="en-US" sz="1400" dirty="0" err="1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Maa</a:t>
              </a: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 Dairy’s invoice records. 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Data period : May 2024 – April 2025 (12 months)</a:t>
              </a:r>
              <a:endPara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929491" y="2146756"/>
            <a:ext cx="3967116" cy="1127124"/>
            <a:chOff x="4931267" y="3619500"/>
            <a:chExt cx="3967116" cy="1127124"/>
          </a:xfrm>
        </p:grpSpPr>
        <p:sp>
          <p:nvSpPr>
            <p:cNvPr id="18" name="Rounded Rectangle 17"/>
            <p:cNvSpPr/>
            <p:nvPr/>
          </p:nvSpPr>
          <p:spPr>
            <a:xfrm>
              <a:off x="4931267" y="3619500"/>
              <a:ext cx="3853466" cy="1127124"/>
            </a:xfrm>
            <a:prstGeom prst="roundRect">
              <a:avLst/>
            </a:prstGeom>
            <a:solidFill>
              <a:srgbClr val="00B050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957573" y="3644900"/>
              <a:ext cx="3940810" cy="984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buNone/>
                <a:defRPr sz="2400"/>
              </a:pPr>
              <a:r>
                <a:rPr lang="en-IN" sz="1600" b="1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Data Cleaning</a:t>
              </a:r>
            </a:p>
            <a:p>
              <a:pPr>
                <a:buNone/>
                <a:defRPr sz="2400"/>
              </a:pP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Data cleaning involves removing duplicates, Handling missing values, correcting inconsistencies, and outlier.</a:t>
              </a:r>
              <a:endPara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972054" y="3517901"/>
            <a:ext cx="4076843" cy="1200330"/>
            <a:chOff x="4950317" y="2166938"/>
            <a:chExt cx="4076843" cy="1200330"/>
          </a:xfrm>
        </p:grpSpPr>
        <p:sp>
          <p:nvSpPr>
            <p:cNvPr id="16" name="Rounded Rectangle 15"/>
            <p:cNvSpPr/>
            <p:nvPr/>
          </p:nvSpPr>
          <p:spPr>
            <a:xfrm>
              <a:off x="4950317" y="2166938"/>
              <a:ext cx="3834416" cy="1200329"/>
            </a:xfrm>
            <a:prstGeom prst="roundRect">
              <a:avLst/>
            </a:prstGeom>
            <a:solidFill>
              <a:srgbClr val="00B050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086350" y="2166939"/>
              <a:ext cx="394081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buNone/>
                <a:defRPr sz="2400"/>
              </a:pPr>
              <a:r>
                <a:rPr lang="en-IN" sz="1600" b="1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Data Transformation</a:t>
              </a:r>
            </a:p>
            <a:p>
              <a:pPr>
                <a:buNone/>
                <a:defRPr sz="2400"/>
              </a:pP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Converted date fields to monthly format, and</a:t>
              </a:r>
            </a:p>
            <a:p>
              <a:pPr>
                <a:buNone/>
                <a:defRPr sz="2400"/>
              </a:pPr>
              <a:r>
                <a:rPr lang="en-US" sz="14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Created derived metrics like Revenue and profit margins to support time-series and financial analysis</a:t>
              </a:r>
              <a:endPara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21" name="Left-Right Arrow 20"/>
          <p:cNvSpPr/>
          <p:nvPr/>
        </p:nvSpPr>
        <p:spPr>
          <a:xfrm>
            <a:off x="4070350" y="2597150"/>
            <a:ext cx="730250" cy="285750"/>
          </a:xfrm>
          <a:prstGeom prst="left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-Right Arrow 21"/>
          <p:cNvSpPr/>
          <p:nvPr/>
        </p:nvSpPr>
        <p:spPr>
          <a:xfrm rot="1588744">
            <a:off x="3698677" y="3612411"/>
            <a:ext cx="1097223" cy="285750"/>
          </a:xfrm>
          <a:prstGeom prst="left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-Right Arrow 22"/>
          <p:cNvSpPr/>
          <p:nvPr/>
        </p:nvSpPr>
        <p:spPr>
          <a:xfrm rot="19938790">
            <a:off x="3721951" y="1621567"/>
            <a:ext cx="1073734" cy="285750"/>
          </a:xfrm>
          <a:prstGeom prst="left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8766182" y="4784353"/>
            <a:ext cx="34924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  <a:endParaRPr lang="en-US" sz="1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5463540" y="3232150"/>
            <a:ext cx="3657600" cy="1370226"/>
            <a:chOff x="5336540" y="1144373"/>
            <a:chExt cx="3657600" cy="1370226"/>
          </a:xfrm>
        </p:grpSpPr>
        <p:sp>
          <p:nvSpPr>
            <p:cNvPr id="21" name="Rounded Rectangle 20"/>
            <p:cNvSpPr/>
            <p:nvPr/>
          </p:nvSpPr>
          <p:spPr>
            <a:xfrm>
              <a:off x="5336540" y="1144373"/>
              <a:ext cx="3657600" cy="1009903"/>
            </a:xfrm>
            <a:prstGeom prst="roundRect">
              <a:avLst/>
            </a:prstGeom>
            <a:solidFill>
              <a:srgbClr val="00B050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itle 1"/>
            <p:cNvSpPr txBox="1">
              <a:spLocks/>
            </p:cNvSpPr>
            <p:nvPr/>
          </p:nvSpPr>
          <p:spPr>
            <a:xfrm>
              <a:off x="5721350" y="1790700"/>
              <a:ext cx="3219450" cy="723899"/>
            </a:xfrm>
            <a:prstGeom prst="rect">
              <a:avLst/>
            </a:prstGeom>
          </p:spPr>
          <p:txBody>
            <a:bodyPr vert="horz" rtlCol="0" anchor="ctr">
              <a:noAutofit/>
              <a:scene3d>
                <a:camera prst="orthographicFront"/>
                <a:lightRig rig="soft" dir="t"/>
              </a:scene3d>
              <a:sp3d prstMaterial="softEdge">
                <a:bevelT w="25400" h="25400"/>
              </a:sp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Algerian" pitchFamily="82" charset="0"/>
                <a:ea typeface="+mj-ea"/>
                <a:cs typeface="+mj-cs"/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5556250" y="3536719"/>
            <a:ext cx="39408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spcBef>
                <a:spcPct val="0"/>
              </a:spcBef>
            </a:pP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Dates standardized to </a:t>
            </a:r>
            <a:r>
              <a:rPr lang="en-US" sz="12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Month–Year format</a:t>
            </a: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b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Monetary values maintained in </a:t>
            </a:r>
            <a:r>
              <a:rPr lang="en-US" sz="12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Indian Rupees (₹)</a:t>
            </a: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b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Product names standardized across all months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63540" y="1980948"/>
            <a:ext cx="3657600" cy="1251202"/>
            <a:chOff x="5461000" y="1263397"/>
            <a:chExt cx="3657600" cy="1251202"/>
          </a:xfrm>
        </p:grpSpPr>
        <p:sp>
          <p:nvSpPr>
            <p:cNvPr id="17" name="Rounded Rectangle 16"/>
            <p:cNvSpPr/>
            <p:nvPr/>
          </p:nvSpPr>
          <p:spPr>
            <a:xfrm>
              <a:off x="5461000" y="1263397"/>
              <a:ext cx="3657600" cy="1009903"/>
            </a:xfrm>
            <a:prstGeom prst="roundRect">
              <a:avLst/>
            </a:prstGeom>
            <a:solidFill>
              <a:srgbClr val="00B050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itle 1"/>
            <p:cNvSpPr txBox="1">
              <a:spLocks/>
            </p:cNvSpPr>
            <p:nvPr/>
          </p:nvSpPr>
          <p:spPr>
            <a:xfrm>
              <a:off x="5721350" y="1790700"/>
              <a:ext cx="3219450" cy="723899"/>
            </a:xfrm>
            <a:prstGeom prst="rect">
              <a:avLst/>
            </a:prstGeom>
          </p:spPr>
          <p:txBody>
            <a:bodyPr vert="horz" rtlCol="0" anchor="ctr">
              <a:noAutofit/>
              <a:scene3d>
                <a:camera prst="orthographicFront"/>
                <a:lightRig rig="soft" dir="t"/>
              </a:scene3d>
              <a:sp3d prstMaterial="softEdge">
                <a:bevelT w="25400" h="25400"/>
              </a:sp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Algerian" pitchFamily="82" charset="0"/>
                <a:ea typeface="+mj-ea"/>
                <a:cs typeface="+mj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146050"/>
            <a:ext cx="7581900" cy="552450"/>
          </a:xfrm>
        </p:spPr>
        <p:txBody>
          <a:bodyPr>
            <a:noAutofit/>
          </a:bodyPr>
          <a:lstStyle/>
          <a:p>
            <a:pPr algn="ctr"/>
            <a:r>
              <a:rPr lang="en-US" sz="2400" dirty="0" smtClean="0">
                <a:latin typeface="Algerian" pitchFamily="82" charset="0"/>
              </a:rPr>
              <a:t>SOURCE OF DATA AND DATA CLEANING METHODS</a:t>
            </a:r>
            <a:endParaRPr sz="2400" dirty="0">
              <a:latin typeface="Algerian" pitchFamily="82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8750" y="819151"/>
          <a:ext cx="4337050" cy="3383613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328930"/>
                <a:gridCol w="3008120"/>
              </a:tblGrid>
              <a:tr h="450849">
                <a:tc>
                  <a:txBody>
                    <a:bodyPr/>
                    <a:lstStyle/>
                    <a:p>
                      <a:r>
                        <a:rPr lang="en-IN" sz="1800" dirty="0" smtClean="0"/>
                        <a:t>Sources</a:t>
                      </a:r>
                      <a:endParaRPr lang="en-US" sz="1800" b="1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91507" marR="91507" marT="45753" marB="45753"/>
                </a:tc>
                <a:tc>
                  <a:txBody>
                    <a:bodyPr/>
                    <a:lstStyle/>
                    <a:p>
                      <a:r>
                        <a:rPr lang="en-IN" sz="1800" dirty="0" smtClean="0"/>
                        <a:t>Description</a:t>
                      </a:r>
                      <a:endParaRPr lang="en-US" sz="1800" b="1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91507" marR="91507" marT="45753" marB="45753"/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Primary</a:t>
                      </a:r>
                      <a:r>
                        <a:rPr lang="en-IN" sz="1400" baseline="0" dirty="0" smtClean="0"/>
                        <a:t> Data</a:t>
                      </a:r>
                    </a:p>
                    <a:p>
                      <a:r>
                        <a:rPr lang="en-IN" sz="1400" baseline="0" dirty="0" smtClean="0"/>
                        <a:t>(Sales Records)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91507" marR="91507" marT="45753" marB="45753"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Monthly</a:t>
                      </a:r>
                      <a:r>
                        <a:rPr lang="en-IN" sz="1200" baseline="0" dirty="0" smtClean="0"/>
                        <a:t> Sales, Particulars, Outward Qty, Price, Revenue collected from Shree </a:t>
                      </a:r>
                      <a:r>
                        <a:rPr lang="en-IN" sz="1200" baseline="0" dirty="0" err="1" smtClean="0"/>
                        <a:t>Maa</a:t>
                      </a:r>
                      <a:r>
                        <a:rPr lang="en-IN" sz="1200" baseline="0" dirty="0" smtClean="0"/>
                        <a:t> Dairy between May 24 to April 25.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91507" marR="91507" marT="45753" marB="45753"/>
                </a:tc>
              </a:tr>
              <a:tr h="989197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Owner</a:t>
                      </a:r>
                      <a:r>
                        <a:rPr lang="en-IN" sz="1400" baseline="0" dirty="0" smtClean="0"/>
                        <a:t> Interaction</a:t>
                      </a:r>
                      <a:endParaRPr lang="en-IN" sz="1400" baseline="0" dirty="0" smtClean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91507" marR="91507" marT="45753" marB="45753"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Regular discussions with the dairy owner to understand :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Seasonal demand patterns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Inventory practices</a:t>
                      </a:r>
                      <a:br>
                        <a:rPr lang="en-US" sz="1200" dirty="0" smtClean="0"/>
                      </a:br>
                      <a:r>
                        <a:rPr lang="en-US" sz="1200" dirty="0" smtClean="0"/>
                        <a:t>Spoilage and overstocking issues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Distribution limitations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91507" marR="91507" marT="45753" marB="45753"/>
                </a:tc>
              </a:tr>
              <a:tr h="1101358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Market</a:t>
                      </a:r>
                      <a:r>
                        <a:rPr lang="en-IN" sz="1400" baseline="0" dirty="0" smtClean="0"/>
                        <a:t> Observation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91507" marR="91507" marT="45753" marB="45753"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Product</a:t>
                      </a:r>
                      <a:r>
                        <a:rPr lang="en-IN" sz="1200" baseline="0" dirty="0" smtClean="0"/>
                        <a:t> demand pattern and price trend were informally observed at </a:t>
                      </a:r>
                      <a:r>
                        <a:rPr lang="en-US" sz="1200" dirty="0" smtClean="0"/>
                        <a:t>nearby dairy retailers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Used to understand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Competitive </a:t>
                      </a:r>
                      <a:r>
                        <a:rPr lang="en-US" sz="1200" dirty="0" err="1" smtClean="0"/>
                        <a:t>pricingSeasonal</a:t>
                      </a:r>
                      <a:r>
                        <a:rPr lang="en-US" sz="1200" dirty="0" smtClean="0"/>
                        <a:t> product demand trends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91507" marR="91507" marT="45753" marB="45753"/>
                </a:tc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5721350" y="1263397"/>
            <a:ext cx="26670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tabLst/>
              <a:defRPr sz="2400"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501640" y="2008736"/>
            <a:ext cx="39408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spcBef>
                <a:spcPct val="0"/>
              </a:spcBef>
            </a:pPr>
            <a:r>
              <a:rPr lang="en-IN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                          </a:t>
            </a:r>
            <a:r>
              <a:rPr lang="en-IN" sz="16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Outlier Treatment</a:t>
            </a:r>
            <a:endParaRPr lang="en-US" sz="1600" b="1" dirty="0" smtClean="0">
              <a:solidFill>
                <a:schemeClr val="bg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5311140" y="768098"/>
            <a:ext cx="3940810" cy="1251202"/>
            <a:chOff x="5311140" y="1263397"/>
            <a:chExt cx="3940810" cy="1251202"/>
          </a:xfrm>
        </p:grpSpPr>
        <p:sp>
          <p:nvSpPr>
            <p:cNvPr id="11" name="Rounded Rectangle 10"/>
            <p:cNvSpPr/>
            <p:nvPr/>
          </p:nvSpPr>
          <p:spPr>
            <a:xfrm>
              <a:off x="5461000" y="1263397"/>
              <a:ext cx="3657600" cy="1009903"/>
            </a:xfrm>
            <a:prstGeom prst="roundRect">
              <a:avLst/>
            </a:prstGeom>
            <a:solidFill>
              <a:srgbClr val="00B050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itle 1"/>
            <p:cNvSpPr txBox="1">
              <a:spLocks/>
            </p:cNvSpPr>
            <p:nvPr/>
          </p:nvSpPr>
          <p:spPr>
            <a:xfrm>
              <a:off x="5721350" y="1790700"/>
              <a:ext cx="3219450" cy="723899"/>
            </a:xfrm>
            <a:prstGeom prst="rect">
              <a:avLst/>
            </a:prstGeom>
          </p:spPr>
          <p:txBody>
            <a:bodyPr vert="horz" rtlCol="0" anchor="ctr">
              <a:noAutofit/>
              <a:scene3d>
                <a:camera prst="orthographicFront"/>
                <a:lightRig rig="soft" dir="t"/>
              </a:scene3d>
              <a:sp3d prstMaterial="softEdge">
                <a:bevelT w="25400" h="25400"/>
              </a:sp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Algerian" pitchFamily="82" charset="0"/>
                <a:ea typeface="+mj-ea"/>
                <a:cs typeface="+mj-cs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311140" y="1301497"/>
              <a:ext cx="3940810" cy="892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400">
                <a:spcBef>
                  <a:spcPct val="0"/>
                </a:spcBef>
              </a:pPr>
              <a:r>
                <a:rPr lang="en-US" sz="1600" b="1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Handling Missing Values</a:t>
              </a:r>
              <a:br>
                <a:rPr lang="en-US" sz="1600" b="1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</a:br>
              <a:r>
                <a:rPr lang="en-US" sz="1200" dirty="0" smtClean="0">
                  <a:solidFill>
                    <a:schemeClr val="bg1"/>
                  </a:solidFill>
                  <a:latin typeface="Calibri" pitchFamily="34" charset="0"/>
                  <a:ea typeface="Calibri" pitchFamily="34" charset="0"/>
                  <a:cs typeface="Calibri" pitchFamily="34" charset="0"/>
                </a:rPr>
                <a:t>Missing quantity or revenue entries were verified with invoice records Missing values were filled with zero only when no sale occurred</a:t>
              </a:r>
              <a:endParaRPr lang="en-US" sz="16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23" name="Rectangle 22"/>
          <p:cNvSpPr/>
          <p:nvPr/>
        </p:nvSpPr>
        <p:spPr>
          <a:xfrm>
            <a:off x="5520690" y="2028449"/>
            <a:ext cx="394081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spcBef>
                <a:spcPct val="0"/>
              </a:spcBef>
            </a:pPr>
            <a:r>
              <a:rPr lang="en-US" sz="16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br>
              <a:rPr lang="en-US" sz="16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Extreme values were manually reviewed</a:t>
            </a:r>
            <a:b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Entry errors were corrected after verification</a:t>
            </a:r>
            <a:b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1200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Genuine high sales during festivals were retained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65750" y="3251200"/>
            <a:ext cx="39408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>
              <a:spcBef>
                <a:spcPct val="0"/>
              </a:spcBef>
            </a:pPr>
            <a:r>
              <a:rPr lang="en-IN" sz="16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Data Standardization</a:t>
            </a:r>
            <a:endParaRPr lang="en-US" sz="1600" dirty="0" smtClean="0">
              <a:solidFill>
                <a:schemeClr val="bg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766182" y="4784353"/>
            <a:ext cx="34924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4</a:t>
            </a:r>
            <a:endParaRPr lang="en-US" sz="1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7" name="Chevron 26"/>
          <p:cNvSpPr/>
          <p:nvPr/>
        </p:nvSpPr>
        <p:spPr>
          <a:xfrm>
            <a:off x="4625340" y="2272196"/>
            <a:ext cx="708660" cy="395910"/>
          </a:xfrm>
          <a:prstGeom prst="chevron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002">
            <a:schemeClr val="lt2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8" name="Chevron 27"/>
          <p:cNvSpPr/>
          <p:nvPr/>
        </p:nvSpPr>
        <p:spPr>
          <a:xfrm>
            <a:off x="4607560" y="3482567"/>
            <a:ext cx="701040" cy="395910"/>
          </a:xfrm>
          <a:prstGeom prst="chevron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Chevron 28"/>
          <p:cNvSpPr/>
          <p:nvPr/>
        </p:nvSpPr>
        <p:spPr>
          <a:xfrm>
            <a:off x="4610100" y="1097445"/>
            <a:ext cx="723900" cy="395910"/>
          </a:xfrm>
          <a:prstGeom prst="chevron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864098" y="1130373"/>
            <a:ext cx="203202" cy="338554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1</a:t>
            </a:r>
            <a:endParaRPr lang="en-US" sz="48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864098" y="3514317"/>
            <a:ext cx="203202" cy="338554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3</a:t>
            </a:r>
            <a:endParaRPr lang="en-US" sz="48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876798" y="2305123"/>
            <a:ext cx="203202" cy="338554"/>
          </a:xfrm>
          <a:prstGeom prst="rect">
            <a:avLst/>
          </a:prstGeom>
          <a:solidFill>
            <a:srgbClr val="FF0000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2</a:t>
            </a:r>
            <a:endParaRPr lang="en-US" sz="48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4279900" y="847329"/>
            <a:ext cx="4622800" cy="3658140"/>
          </a:xfrm>
          <a:prstGeom prst="round2DiagRect">
            <a:avLst/>
          </a:prstGeom>
          <a:solidFill>
            <a:schemeClr val="accent2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-9921"/>
            <a:ext cx="8229600" cy="857250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>
                <a:solidFill>
                  <a:schemeClr val="tx1"/>
                </a:solidFill>
                <a:latin typeface="Algerian" pitchFamily="82" charset="0"/>
              </a:rPr>
              <a:t>DESCRIPTIVE STATISTICAL ANALYSIS</a:t>
            </a:r>
            <a:endParaRPr lang="en-US" sz="2800" dirty="0">
              <a:solidFill>
                <a:schemeClr val="tx1"/>
              </a:solidFill>
              <a:latin typeface="Algerian" pitchFamily="82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438650" y="1110997"/>
            <a:ext cx="4248150" cy="3394472"/>
          </a:xfrm>
        </p:spPr>
        <p:txBody>
          <a:bodyPr>
            <a:normAutofit fontScale="55000" lnSpcReduction="20000"/>
          </a:bodyPr>
          <a:lstStyle/>
          <a:p>
            <a:pPr algn="ctr">
              <a:buNone/>
            </a:pPr>
            <a:r>
              <a:rPr lang="en-US" b="1" dirty="0" smtClean="0"/>
              <a:t>Outwards Quantity</a:t>
            </a:r>
          </a:p>
          <a:p>
            <a:pPr>
              <a:buNone/>
            </a:pPr>
            <a:r>
              <a:rPr lang="en-US" b="1" dirty="0" err="1" smtClean="0"/>
              <a:t>Avg</a:t>
            </a:r>
            <a:r>
              <a:rPr lang="en-US" b="1" dirty="0" smtClean="0"/>
              <a:t> Qty:</a:t>
            </a:r>
            <a:r>
              <a:rPr lang="en-US" dirty="0" smtClean="0"/>
              <a:t> 11,947 units, </a:t>
            </a:r>
            <a:r>
              <a:rPr lang="en-US" b="1" dirty="0" smtClean="0"/>
              <a:t>Std Dev: </a:t>
            </a:r>
            <a:r>
              <a:rPr lang="en-US" dirty="0" smtClean="0"/>
              <a:t>28,494 units</a:t>
            </a:r>
          </a:p>
          <a:p>
            <a:pPr>
              <a:buNone/>
            </a:pPr>
            <a:r>
              <a:rPr lang="en-US" b="1" dirty="0" smtClean="0"/>
              <a:t>Max :</a:t>
            </a:r>
            <a:r>
              <a:rPr lang="en-US" dirty="0" smtClean="0"/>
              <a:t> 1,82,160 units</a:t>
            </a:r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b="1" dirty="0" smtClean="0"/>
              <a:t>Selling Rate (₹ per unit)</a:t>
            </a:r>
          </a:p>
          <a:p>
            <a:pPr>
              <a:buNone/>
            </a:pPr>
            <a:r>
              <a:rPr lang="en-US" b="1" dirty="0" err="1" smtClean="0"/>
              <a:t>Avg</a:t>
            </a:r>
            <a:r>
              <a:rPr lang="en-US" b="1" dirty="0" smtClean="0"/>
              <a:t>:</a:t>
            </a:r>
            <a:r>
              <a:rPr lang="en-US" dirty="0" smtClean="0"/>
              <a:t> ₹405.77, </a:t>
            </a:r>
            <a:r>
              <a:rPr lang="en-US" b="1" dirty="0" smtClean="0"/>
              <a:t>Min:</a:t>
            </a:r>
            <a:r>
              <a:rPr lang="en-US" dirty="0" smtClean="0"/>
              <a:t> ₹6.67 (Milk / Buttermilk)</a:t>
            </a:r>
          </a:p>
          <a:p>
            <a:pPr>
              <a:buNone/>
            </a:pPr>
            <a:r>
              <a:rPr lang="en-US" b="1" dirty="0" smtClean="0"/>
              <a:t>Max:</a:t>
            </a:r>
            <a:r>
              <a:rPr lang="en-US" dirty="0" smtClean="0"/>
              <a:t> ₹6,574.55 (Bulk Ghee SKUs)</a:t>
            </a:r>
          </a:p>
          <a:p>
            <a:pPr>
              <a:buNone/>
            </a:pPr>
            <a:endParaRPr lang="en-US" b="1" dirty="0" smtClean="0"/>
          </a:p>
          <a:p>
            <a:pPr algn="ctr">
              <a:buNone/>
            </a:pPr>
            <a:r>
              <a:rPr lang="en-US" b="1" dirty="0" smtClean="0"/>
              <a:t>Product (Amount ₹)</a:t>
            </a:r>
          </a:p>
          <a:p>
            <a:pPr>
              <a:buNone/>
            </a:pPr>
            <a:r>
              <a:rPr lang="en-US" b="1" dirty="0" err="1" smtClean="0"/>
              <a:t>Avg</a:t>
            </a:r>
            <a:r>
              <a:rPr lang="en-US" b="1" dirty="0" smtClean="0"/>
              <a:t>:</a:t>
            </a:r>
            <a:r>
              <a:rPr lang="en-US" dirty="0" smtClean="0"/>
              <a:t> ₹3.08 </a:t>
            </a:r>
            <a:r>
              <a:rPr lang="en-US" dirty="0" err="1" smtClean="0"/>
              <a:t>Lakhs</a:t>
            </a:r>
            <a:r>
              <a:rPr lang="en-US" dirty="0" smtClean="0"/>
              <a:t>, </a:t>
            </a:r>
            <a:r>
              <a:rPr lang="en-US" b="1" dirty="0" smtClean="0"/>
              <a:t>Std Dev: </a:t>
            </a:r>
            <a:r>
              <a:rPr lang="en-US" dirty="0" smtClean="0"/>
              <a:t>₹4.61 </a:t>
            </a:r>
            <a:r>
              <a:rPr lang="en-US" dirty="0" err="1" smtClean="0"/>
              <a:t>Lakhs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Range:</a:t>
            </a:r>
            <a:r>
              <a:rPr lang="en-US" dirty="0" smtClean="0"/>
              <a:t> ₹20.62 </a:t>
            </a:r>
            <a:r>
              <a:rPr lang="en-US" dirty="0" err="1" smtClean="0"/>
              <a:t>Lakhs</a:t>
            </a:r>
            <a:r>
              <a:rPr lang="en-US" dirty="0" smtClean="0"/>
              <a:t> - ₹386 </a:t>
            </a:r>
            <a:r>
              <a:rPr lang="en-US" dirty="0" err="1" smtClean="0"/>
              <a:t>Lakhs</a:t>
            </a:r>
            <a:endParaRPr lang="en-US" dirty="0" smtClean="0"/>
          </a:p>
          <a:p>
            <a:pPr>
              <a:buNone/>
              <a:defRPr sz="2600"/>
            </a:pPr>
            <a:endParaRPr lang="en-US" dirty="0" smtClean="0"/>
          </a:p>
          <a:p>
            <a:pPr algn="ctr">
              <a:buNone/>
              <a:defRPr sz="2600"/>
            </a:pPr>
            <a:r>
              <a:rPr lang="en-US" b="1" dirty="0" smtClean="0"/>
              <a:t>Clear seasonal Trend</a:t>
            </a:r>
          </a:p>
          <a:p>
            <a:pPr algn="ctr">
              <a:buNone/>
              <a:defRPr sz="2600"/>
            </a:pPr>
            <a:r>
              <a:rPr lang="en-US" dirty="0" smtClean="0"/>
              <a:t>High revenue during </a:t>
            </a:r>
            <a:r>
              <a:rPr lang="en-US" b="1" dirty="0" smtClean="0"/>
              <a:t>festival &amp; winter months, low in summer/monsoon season</a:t>
            </a:r>
          </a:p>
          <a:p>
            <a:pPr algn="ctr">
              <a:buNone/>
              <a:defRPr sz="2600"/>
            </a:pPr>
            <a:endParaRPr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" y="1136652"/>
            <a:ext cx="3892550" cy="262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1797050" y="3832225"/>
            <a:ext cx="622300" cy="234950"/>
          </a:xfrm>
        </p:spPr>
        <p:txBody>
          <a:bodyPr>
            <a:normAutofit fontScale="40000" lnSpcReduction="20000"/>
          </a:bodyPr>
          <a:lstStyle/>
          <a:p>
            <a:pPr algn="l">
              <a:buNone/>
              <a:defRPr sz="3000"/>
            </a:pPr>
            <a:r>
              <a:rPr lang="en-IN" sz="2800" dirty="0" smtClean="0"/>
              <a:t>Fig - 1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8766182" y="4784353"/>
            <a:ext cx="34924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5</a:t>
            </a:r>
            <a:endParaRPr lang="en-US" sz="1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 Diagonal Corner Rectangle 11"/>
          <p:cNvSpPr/>
          <p:nvPr/>
        </p:nvSpPr>
        <p:spPr>
          <a:xfrm>
            <a:off x="4584700" y="3048002"/>
            <a:ext cx="4286250" cy="2000003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 Diagonal Corner Rectangle 10"/>
          <p:cNvSpPr/>
          <p:nvPr/>
        </p:nvSpPr>
        <p:spPr>
          <a:xfrm>
            <a:off x="301626" y="3054599"/>
            <a:ext cx="4103384" cy="2000003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050" y="-175021"/>
            <a:ext cx="7467600" cy="85725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 smtClean="0">
                <a:latin typeface="Algerian" pitchFamily="82" charset="0"/>
              </a:rPr>
              <a:t>TOTAL REVENUE IN EACH MONTH</a:t>
            </a:r>
            <a:endParaRPr sz="3600" b="1" dirty="0">
              <a:latin typeface="Algerian" pitchFamily="82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0250" y="2997200"/>
            <a:ext cx="4432300" cy="2057400"/>
          </a:xfrm>
        </p:spPr>
        <p:txBody>
          <a:bodyPr>
            <a:normAutofit fontScale="40000" lnSpcReduction="20000"/>
          </a:bodyPr>
          <a:lstStyle/>
          <a:p>
            <a:pPr>
              <a:buNone/>
              <a:defRPr sz="2600"/>
            </a:pPr>
            <a:endParaRPr lang="en-IN" dirty="0" smtClean="0"/>
          </a:p>
          <a:p>
            <a:pPr algn="ctr">
              <a:buNone/>
            </a:pPr>
            <a:r>
              <a:rPr lang="en-US" sz="2800" b="1" dirty="0" smtClean="0"/>
              <a:t>Top 5 Product Category</a:t>
            </a:r>
            <a:endParaRPr lang="en-US" b="1" dirty="0" smtClean="0"/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sz="2400" b="1" dirty="0" smtClean="0"/>
              <a:t>•	</a:t>
            </a:r>
            <a:r>
              <a:rPr lang="en-US" b="1" dirty="0" smtClean="0"/>
              <a:t>Ghee Teen (15 Kg)</a:t>
            </a:r>
            <a:r>
              <a:rPr lang="en-US" dirty="0" smtClean="0"/>
              <a:t> is the </a:t>
            </a:r>
            <a:r>
              <a:rPr lang="en-US" b="1" dirty="0" smtClean="0"/>
              <a:t>largest revenue contributor (28%)</a:t>
            </a:r>
            <a:r>
              <a:rPr lang="en-US" dirty="0" smtClean="0"/>
              <a:t>, followed by </a:t>
            </a:r>
            <a:r>
              <a:rPr lang="en-US" b="1" dirty="0" err="1" smtClean="0"/>
              <a:t>Tond</a:t>
            </a:r>
            <a:r>
              <a:rPr lang="en-US" b="1" dirty="0" smtClean="0"/>
              <a:t> Milk Pouch 500 ML (22%)</a:t>
            </a:r>
            <a:r>
              <a:rPr lang="en-US" dirty="0" smtClean="0"/>
              <a:t> and Full Fat Milk Pouch 500 ML (21%).</a:t>
            </a:r>
          </a:p>
          <a:p>
            <a:endParaRPr lang="en-US" dirty="0" smtClean="0"/>
          </a:p>
          <a:p>
            <a:pPr>
              <a:buNone/>
            </a:pPr>
            <a:r>
              <a:rPr lang="en-US" sz="2400" b="1" dirty="0" smtClean="0"/>
              <a:t>•	</a:t>
            </a:r>
            <a:r>
              <a:rPr lang="en-US" dirty="0" smtClean="0"/>
              <a:t>Milk-based SKUs together contribute </a:t>
            </a:r>
            <a:r>
              <a:rPr lang="en-US" b="1" dirty="0" smtClean="0"/>
              <a:t>over 70% of total sales</a:t>
            </a:r>
            <a:r>
              <a:rPr lang="en-US" dirty="0" smtClean="0"/>
              <a:t>, highlighting </a:t>
            </a:r>
            <a:r>
              <a:rPr lang="en-US" b="1" dirty="0" smtClean="0"/>
              <a:t>high dependency on a few core products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r>
              <a:rPr lang="en-US" sz="2400" b="1" dirty="0" smtClean="0"/>
              <a:t>•	</a:t>
            </a:r>
            <a:r>
              <a:rPr lang="en-US" dirty="0" smtClean="0"/>
              <a:t>These products form the </a:t>
            </a:r>
            <a:r>
              <a:rPr lang="en-US" b="1" dirty="0" smtClean="0"/>
              <a:t>backbone of business profitability</a:t>
            </a:r>
            <a:r>
              <a:rPr lang="en-US" dirty="0" smtClean="0"/>
              <a:t> and must be prioritized in production and distribution planning.</a:t>
            </a:r>
          </a:p>
          <a:p>
            <a:pPr>
              <a:buNone/>
              <a:defRPr sz="2600"/>
            </a:pPr>
            <a:endParaRPr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1626" y="472679"/>
            <a:ext cx="4103384" cy="2314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67250" y="504429"/>
            <a:ext cx="3883024" cy="2321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>
          <a:xfrm>
            <a:off x="282576" y="3181350"/>
            <a:ext cx="4149724" cy="1746250"/>
          </a:xfrm>
        </p:spPr>
        <p:txBody>
          <a:bodyPr>
            <a:normAutofit fontScale="32500" lnSpcReduction="20000"/>
          </a:bodyPr>
          <a:lstStyle/>
          <a:p>
            <a:pPr algn="ctr">
              <a:buNone/>
            </a:pPr>
            <a:r>
              <a:rPr lang="en-US" sz="3400" b="1" dirty="0" smtClean="0"/>
              <a:t>Monthly Revenue Trend</a:t>
            </a:r>
            <a:endParaRPr lang="en-US" sz="2800" b="1" dirty="0" smtClean="0"/>
          </a:p>
          <a:p>
            <a:pPr algn="ctr">
              <a:buNone/>
            </a:pPr>
            <a:endParaRPr lang="en-US" b="1" dirty="0" smtClean="0"/>
          </a:p>
          <a:p>
            <a:pPr>
              <a:buNone/>
            </a:pPr>
            <a:r>
              <a:rPr lang="en-US" sz="3200" b="1" dirty="0" smtClean="0"/>
              <a:t>•	</a:t>
            </a:r>
            <a:r>
              <a:rPr lang="en-US" sz="3100" dirty="0" smtClean="0"/>
              <a:t>Revenue shows </a:t>
            </a:r>
            <a:r>
              <a:rPr lang="en-US" sz="3100" b="1" dirty="0" smtClean="0"/>
              <a:t>strong seasonality</a:t>
            </a:r>
            <a:r>
              <a:rPr lang="en-US" sz="3100" dirty="0" smtClean="0"/>
              <a:t>, with a clear </a:t>
            </a:r>
            <a:r>
              <a:rPr lang="en-US" sz="3100" b="1" dirty="0" smtClean="0"/>
              <a:t>peak in </a:t>
            </a:r>
            <a:r>
              <a:rPr lang="en-US" sz="3100" b="1" u="sng" dirty="0" smtClean="0"/>
              <a:t>January (₹105.25 </a:t>
            </a:r>
            <a:r>
              <a:rPr lang="en-US" sz="3100" b="1" u="sng" dirty="0" err="1" smtClean="0"/>
              <a:t>Lakhs</a:t>
            </a:r>
            <a:r>
              <a:rPr lang="en-US" sz="3100" b="1" u="sng" dirty="0" smtClean="0"/>
              <a:t>)</a:t>
            </a:r>
            <a:r>
              <a:rPr lang="en-US" sz="3100" u="sng" dirty="0" smtClean="0"/>
              <a:t> </a:t>
            </a:r>
            <a:r>
              <a:rPr lang="en-US" sz="3100" dirty="0" smtClean="0"/>
              <a:t>driven by winter demand and festivals.</a:t>
            </a:r>
          </a:p>
          <a:p>
            <a:endParaRPr lang="en-US" sz="3100" dirty="0" smtClean="0"/>
          </a:p>
          <a:p>
            <a:pPr>
              <a:buNone/>
            </a:pPr>
            <a:r>
              <a:rPr lang="en-US" sz="3200" b="1" dirty="0" smtClean="0"/>
              <a:t>•	</a:t>
            </a:r>
            <a:r>
              <a:rPr lang="en-US" sz="3100" dirty="0" smtClean="0"/>
              <a:t>Sales remain </a:t>
            </a:r>
            <a:r>
              <a:rPr lang="en-US" sz="3100" b="1" dirty="0" smtClean="0"/>
              <a:t>stable during </a:t>
            </a:r>
            <a:r>
              <a:rPr lang="en-US" sz="3100" b="1" u="sng" dirty="0" smtClean="0"/>
              <a:t>mid-year (May–July)</a:t>
            </a:r>
            <a:r>
              <a:rPr lang="en-US" sz="3100" dirty="0" smtClean="0"/>
              <a:t> and </a:t>
            </a:r>
            <a:r>
              <a:rPr lang="en-US" sz="3100" b="1" dirty="0" smtClean="0"/>
              <a:t>decline sharply in March</a:t>
            </a:r>
            <a:r>
              <a:rPr lang="en-US" sz="3100" dirty="0" smtClean="0"/>
              <a:t>, indicating post-season demand drop.</a:t>
            </a:r>
          </a:p>
          <a:p>
            <a:endParaRPr lang="en-US" sz="3100" dirty="0" smtClean="0"/>
          </a:p>
          <a:p>
            <a:pPr>
              <a:buNone/>
            </a:pPr>
            <a:r>
              <a:rPr lang="en-US" sz="3200" b="1" dirty="0" smtClean="0"/>
              <a:t>•	</a:t>
            </a:r>
            <a:r>
              <a:rPr lang="en-US" sz="3100" dirty="0" smtClean="0"/>
              <a:t>This confirms that </a:t>
            </a:r>
            <a:r>
              <a:rPr lang="en-US" sz="3100" b="1" dirty="0" smtClean="0"/>
              <a:t>Shree </a:t>
            </a:r>
            <a:r>
              <a:rPr lang="en-US" sz="3100" b="1" dirty="0" err="1" smtClean="0"/>
              <a:t>Maa</a:t>
            </a:r>
            <a:r>
              <a:rPr lang="en-US" sz="3100" b="1" dirty="0" smtClean="0"/>
              <a:t> Dairy’s revenue is not linear but season-driven</a:t>
            </a:r>
            <a:r>
              <a:rPr lang="en-US" sz="3100" dirty="0" smtClean="0"/>
              <a:t>, requiring seasonal inventory and cash-flow planning.</a:t>
            </a:r>
          </a:p>
          <a:p>
            <a:pPr>
              <a:buNone/>
              <a:defRPr sz="2600"/>
            </a:pPr>
            <a:endParaRPr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"/>
          </p:nvPr>
        </p:nvSpPr>
        <p:spPr>
          <a:xfrm>
            <a:off x="1841500" y="2800597"/>
            <a:ext cx="622300" cy="234950"/>
          </a:xfrm>
        </p:spPr>
        <p:txBody>
          <a:bodyPr>
            <a:normAutofit fontScale="40000" lnSpcReduction="20000"/>
          </a:bodyPr>
          <a:lstStyle/>
          <a:p>
            <a:pPr algn="l">
              <a:buNone/>
              <a:defRPr sz="3000"/>
            </a:pPr>
            <a:r>
              <a:rPr lang="en-IN" sz="2800" dirty="0" smtClean="0"/>
              <a:t>Fig - 2</a:t>
            </a:r>
            <a:endParaRPr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324600" y="2813050"/>
            <a:ext cx="622300" cy="234950"/>
          </a:xfrm>
          <a:prstGeom prst="rect">
            <a:avLst/>
          </a:prstGeom>
        </p:spPr>
        <p:txBody>
          <a:bodyPr vert="horz">
            <a:normAutofit fontScale="40000" lnSpcReduction="20000"/>
          </a:bodyPr>
          <a:lstStyle/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 sz="3000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Fig - 3</a:t>
            </a:r>
            <a:endParaRPr kumimoji="0" lang="en-I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766182" y="4784353"/>
            <a:ext cx="34924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6</a:t>
            </a:r>
            <a:endParaRPr lang="en-US" sz="1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 Diagonal Corner Rectangle 12"/>
          <p:cNvSpPr/>
          <p:nvPr/>
        </p:nvSpPr>
        <p:spPr>
          <a:xfrm>
            <a:off x="292100" y="3022600"/>
            <a:ext cx="4235450" cy="2076450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 Diagonal Corner Rectangle 13"/>
          <p:cNvSpPr/>
          <p:nvPr/>
        </p:nvSpPr>
        <p:spPr>
          <a:xfrm>
            <a:off x="4762500" y="3009900"/>
            <a:ext cx="4235450" cy="2076450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-175021"/>
            <a:ext cx="7467600" cy="857250"/>
          </a:xfrm>
        </p:spPr>
        <p:txBody>
          <a:bodyPr>
            <a:noAutofit/>
          </a:bodyPr>
          <a:lstStyle/>
          <a:p>
            <a:pPr algn="ctr"/>
            <a:r>
              <a:rPr lang="en-IN" sz="2400" dirty="0" smtClean="0">
                <a:latin typeface="Algerian" pitchFamily="82" charset="0"/>
              </a:rPr>
              <a:t>PRODUCT PERFORMANCE AND REVENUE INSIGHT</a:t>
            </a:r>
            <a:endParaRPr sz="2400" dirty="0">
              <a:latin typeface="Algerian" pitchFamily="82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3950" y="3060700"/>
            <a:ext cx="3803650" cy="1962150"/>
          </a:xfrm>
        </p:spPr>
        <p:txBody>
          <a:bodyPr>
            <a:normAutofit fontScale="32500" lnSpcReduction="20000"/>
          </a:bodyPr>
          <a:lstStyle/>
          <a:p>
            <a:pPr algn="ctr">
              <a:buNone/>
            </a:pPr>
            <a:r>
              <a:rPr lang="en-US" sz="3700" b="1" dirty="0" smtClean="0"/>
              <a:t>Revenue Contribution</a:t>
            </a:r>
          </a:p>
          <a:p>
            <a:pPr algn="ctr">
              <a:buNone/>
            </a:pPr>
            <a:endParaRPr lang="en-US" b="1" dirty="0" smtClean="0"/>
          </a:p>
          <a:p>
            <a:pPr>
              <a:buNone/>
            </a:pPr>
            <a:r>
              <a:rPr lang="en-US" sz="2800" b="1" dirty="0" smtClean="0"/>
              <a:t>• 	</a:t>
            </a:r>
            <a:r>
              <a:rPr lang="en-US" sz="3200" b="1" dirty="0" smtClean="0"/>
              <a:t>Top 5–7 products contribute ~70–75% of total revenue</a:t>
            </a:r>
            <a:r>
              <a:rPr lang="en-US" sz="3200" dirty="0" smtClean="0"/>
              <a:t>, confirming the Pareto (80/20) principle.</a:t>
            </a:r>
          </a:p>
          <a:p>
            <a:endParaRPr lang="en-US" sz="3200" dirty="0" smtClean="0"/>
          </a:p>
          <a:p>
            <a:pPr>
              <a:buNone/>
            </a:pPr>
            <a:r>
              <a:rPr lang="en-US" sz="3200" b="1" dirty="0" smtClean="0"/>
              <a:t>• 	Milk and ghee SKUs (Ghee Teen, Full Fat Milk, Fresh Milk)</a:t>
            </a:r>
            <a:r>
              <a:rPr lang="en-US" sz="3200" dirty="0" smtClean="0"/>
              <a:t> are the primary revenue drivers.</a:t>
            </a:r>
          </a:p>
          <a:p>
            <a:endParaRPr lang="en-US" sz="3200" dirty="0" smtClean="0"/>
          </a:p>
          <a:p>
            <a:pPr>
              <a:buNone/>
            </a:pPr>
            <a:r>
              <a:rPr lang="en-US" sz="3200" b="1" dirty="0" smtClean="0"/>
              <a:t>• 	</a:t>
            </a:r>
            <a:r>
              <a:rPr lang="en-US" sz="3200" dirty="0" smtClean="0"/>
              <a:t>Long-tail products contribute marginal revenue individually</a:t>
            </a:r>
          </a:p>
          <a:p>
            <a:endParaRPr lang="en-US" sz="3200" dirty="0" smtClean="0"/>
          </a:p>
          <a:p>
            <a:pPr>
              <a:buNone/>
            </a:pPr>
            <a:r>
              <a:rPr lang="en-US" sz="3200" b="1" dirty="0" smtClean="0"/>
              <a:t>• 	</a:t>
            </a:r>
            <a:r>
              <a:rPr lang="en-US" sz="3200" dirty="0" smtClean="0"/>
              <a:t>Focusing inventory and forecasting on these key products can </a:t>
            </a:r>
            <a:r>
              <a:rPr lang="en-US" sz="3200" b="1" dirty="0" smtClean="0"/>
              <a:t>stabilize revenue and reduce spoilage</a:t>
            </a:r>
            <a:r>
              <a:rPr lang="en-US" sz="3200" dirty="0" smtClean="0"/>
              <a:t>.</a:t>
            </a:r>
            <a:endParaRPr lang="en-US" sz="32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4950" y="550528"/>
            <a:ext cx="4333398" cy="2249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C:\Users\LENOVO\Pictures\Screenshots\Screenshot 2025-12-23 231409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9427" y="556671"/>
            <a:ext cx="4335827" cy="2243680"/>
          </a:xfrm>
          <a:prstGeom prst="rect">
            <a:avLst/>
          </a:prstGeom>
          <a:noFill/>
        </p:spPr>
      </p:pic>
      <p:sp>
        <p:nvSpPr>
          <p:cNvPr id="10" name="Content Placeholder 3"/>
          <p:cNvSpPr>
            <a:spLocks noGrp="1"/>
          </p:cNvSpPr>
          <p:nvPr>
            <p:ph sz="half" idx="2"/>
          </p:nvPr>
        </p:nvSpPr>
        <p:spPr>
          <a:xfrm>
            <a:off x="387350" y="3079750"/>
            <a:ext cx="3803650" cy="1981200"/>
          </a:xfrm>
        </p:spPr>
        <p:txBody>
          <a:bodyPr>
            <a:normAutofit fontScale="32500" lnSpcReduction="20000"/>
          </a:bodyPr>
          <a:lstStyle/>
          <a:p>
            <a:pPr algn="ctr">
              <a:buNone/>
            </a:pPr>
            <a:r>
              <a:rPr lang="en-US" sz="3700" b="1" dirty="0" smtClean="0"/>
              <a:t>Outward Qty Contribution</a:t>
            </a:r>
          </a:p>
          <a:p>
            <a:pPr algn="ctr">
              <a:buNone/>
            </a:pPr>
            <a:endParaRPr lang="en-US" b="1" dirty="0" smtClean="0"/>
          </a:p>
          <a:p>
            <a:pPr>
              <a:buNone/>
            </a:pPr>
            <a:r>
              <a:rPr lang="en-US" sz="2800" b="1" dirty="0" smtClean="0"/>
              <a:t>• 	</a:t>
            </a:r>
            <a:r>
              <a:rPr lang="en-US" sz="3200" dirty="0" smtClean="0"/>
              <a:t>A small number of products—primarily milk variants—account for the majority of total outward quantity.</a:t>
            </a:r>
          </a:p>
          <a:p>
            <a:endParaRPr lang="en-US" sz="3200" dirty="0" smtClean="0"/>
          </a:p>
          <a:p>
            <a:pPr>
              <a:buNone/>
            </a:pPr>
            <a:r>
              <a:rPr lang="en-US" sz="3200" b="1" dirty="0" smtClean="0"/>
              <a:t>• 	</a:t>
            </a:r>
            <a:r>
              <a:rPr lang="en-US" sz="3200" dirty="0" smtClean="0"/>
              <a:t>Products like </a:t>
            </a:r>
            <a:r>
              <a:rPr lang="en-US" sz="3200" dirty="0" err="1" smtClean="0"/>
              <a:t>Neno</a:t>
            </a:r>
            <a:r>
              <a:rPr lang="en-US" sz="3200" dirty="0" smtClean="0"/>
              <a:t> Milk Pouch and Full Fat Milk require priority in production and inventory planning.</a:t>
            </a:r>
          </a:p>
          <a:p>
            <a:endParaRPr lang="en-US" sz="3200" dirty="0" smtClean="0"/>
          </a:p>
          <a:p>
            <a:pPr>
              <a:buNone/>
            </a:pPr>
            <a:r>
              <a:rPr lang="en-US" sz="3200" b="1" dirty="0" smtClean="0"/>
              <a:t>• 	</a:t>
            </a:r>
            <a:r>
              <a:rPr lang="en-US" sz="3200" dirty="0" smtClean="0"/>
              <a:t>Many SKUs contribute marginally to total quantity and can be stocked more conservatively.</a:t>
            </a:r>
          </a:p>
          <a:p>
            <a:endParaRPr lang="en-US" sz="3200" dirty="0" smtClean="0"/>
          </a:p>
          <a:p>
            <a:pPr>
              <a:buNone/>
            </a:pPr>
            <a:r>
              <a:rPr lang="en-US" sz="3200" b="1" dirty="0" smtClean="0"/>
              <a:t>• 	</a:t>
            </a:r>
            <a:r>
              <a:rPr lang="en-US" sz="3200" dirty="0" smtClean="0"/>
              <a:t>Efficient production, distribution, and forecasting should prioritize these high-volume products to avoid </a:t>
            </a:r>
            <a:r>
              <a:rPr lang="en-US" sz="3200" dirty="0" err="1" smtClean="0"/>
              <a:t>stockouts</a:t>
            </a:r>
            <a:r>
              <a:rPr lang="en-US" sz="3200" dirty="0" smtClean="0"/>
              <a:t>.</a:t>
            </a:r>
            <a:endParaRPr lang="en-US" sz="3200"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"/>
          </p:nvPr>
        </p:nvSpPr>
        <p:spPr>
          <a:xfrm>
            <a:off x="1930400" y="2787650"/>
            <a:ext cx="622300" cy="234950"/>
          </a:xfrm>
        </p:spPr>
        <p:txBody>
          <a:bodyPr>
            <a:noAutofit/>
          </a:bodyPr>
          <a:lstStyle/>
          <a:p>
            <a:pPr algn="l">
              <a:buNone/>
              <a:defRPr sz="3000"/>
            </a:pPr>
            <a:r>
              <a:rPr lang="en-IN" sz="1100" dirty="0" smtClean="0"/>
              <a:t>Fig - 4</a:t>
            </a:r>
            <a:endParaRPr sz="11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6515100" y="2800597"/>
            <a:ext cx="622300" cy="234950"/>
          </a:xfrm>
          <a:prstGeom prst="rect">
            <a:avLst/>
          </a:prstGeom>
        </p:spPr>
        <p:txBody>
          <a:bodyPr vert="horz">
            <a:normAutofit fontScale="40000" lnSpcReduction="20000"/>
          </a:bodyPr>
          <a:lstStyle/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 sz="3000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Fig - 5</a:t>
            </a:r>
            <a:endParaRPr kumimoji="0" lang="en-I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861432" y="4809753"/>
            <a:ext cx="34924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7</a:t>
            </a:r>
            <a:endParaRPr lang="en-US" sz="1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 Diagonal Corner Rectangle 10"/>
          <p:cNvSpPr/>
          <p:nvPr/>
        </p:nvSpPr>
        <p:spPr>
          <a:xfrm>
            <a:off x="203200" y="3054351"/>
            <a:ext cx="4337050" cy="1974850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 Diagonal Corner Rectangle 11"/>
          <p:cNvSpPr/>
          <p:nvPr/>
        </p:nvSpPr>
        <p:spPr>
          <a:xfrm>
            <a:off x="4692650" y="3048000"/>
            <a:ext cx="4337050" cy="1974850"/>
          </a:xfrm>
          <a:prstGeom prst="round2Diag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-124221"/>
            <a:ext cx="746760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dirty="0" smtClean="0">
                <a:latin typeface="Algerian" pitchFamily="82" charset="0"/>
              </a:rPr>
              <a:t>DEMAND FORECASTING</a:t>
            </a:r>
            <a:endParaRPr sz="32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00" y="3098803"/>
            <a:ext cx="4064000" cy="1790699"/>
          </a:xfrm>
        </p:spPr>
        <p:txBody>
          <a:bodyPr>
            <a:normAutofit fontScale="40000" lnSpcReduction="20000"/>
          </a:bodyPr>
          <a:lstStyle/>
          <a:p>
            <a:pPr algn="ctr">
              <a:buNone/>
            </a:pPr>
            <a:r>
              <a:rPr lang="en-IN" sz="2900" b="1" dirty="0" smtClean="0"/>
              <a:t>LINEAR REGRESSION</a:t>
            </a:r>
            <a:endParaRPr lang="en-US" sz="2900" b="1" dirty="0" smtClean="0"/>
          </a:p>
          <a:p>
            <a:pPr algn="ctr">
              <a:buNone/>
            </a:pPr>
            <a:endParaRPr lang="en-US" dirty="0" smtClean="0"/>
          </a:p>
          <a:p>
            <a:pPr>
              <a:buNone/>
            </a:pPr>
            <a:r>
              <a:rPr lang="en-US" sz="2800" b="1" dirty="0" smtClean="0"/>
              <a:t>• 	</a:t>
            </a:r>
            <a:r>
              <a:rPr lang="en-US" dirty="0" smtClean="0"/>
              <a:t>Linear Regression captures the </a:t>
            </a:r>
            <a:r>
              <a:rPr lang="en-US" b="1" dirty="0" smtClean="0"/>
              <a:t>overall increasing revenue trend</a:t>
            </a:r>
            <a:r>
              <a:rPr lang="en-US" dirty="0" smtClean="0"/>
              <a:t>, but it </a:t>
            </a:r>
            <a:r>
              <a:rPr lang="en-US" b="1" dirty="0" err="1" smtClean="0"/>
              <a:t>smooths</a:t>
            </a:r>
            <a:r>
              <a:rPr lang="en-US" b="1" dirty="0" smtClean="0"/>
              <a:t> out month-to-month fluctuations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• 	</a:t>
            </a:r>
            <a:r>
              <a:rPr lang="en-US" dirty="0" smtClean="0"/>
              <a:t>It </a:t>
            </a:r>
            <a:r>
              <a:rPr lang="en-US" b="1" dirty="0" smtClean="0"/>
              <a:t>underestimates peak demand (January)</a:t>
            </a:r>
            <a:r>
              <a:rPr lang="en-US" dirty="0" smtClean="0"/>
              <a:t> and </a:t>
            </a:r>
            <a:r>
              <a:rPr lang="en-US" b="1" dirty="0" smtClean="0"/>
              <a:t>overestimates low-demand months (March)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• 	</a:t>
            </a:r>
            <a:r>
              <a:rPr lang="en-US" dirty="0" smtClean="0"/>
              <a:t>Hence, it is </a:t>
            </a:r>
            <a:r>
              <a:rPr lang="en-US" b="1" dirty="0" smtClean="0"/>
              <a:t>useful for long-term trend analysis</a:t>
            </a:r>
            <a:r>
              <a:rPr lang="en-US" dirty="0" smtClean="0"/>
              <a:t>, but not ideal for seasonal or short-term forecasting</a:t>
            </a:r>
          </a:p>
          <a:p>
            <a:pPr>
              <a:buNone/>
              <a:defRPr sz="2400"/>
            </a:pPr>
            <a:r>
              <a:rPr lang="en-IN" dirty="0" smtClean="0"/>
              <a:t>	</a:t>
            </a:r>
            <a:r>
              <a:rPr sz="2800" dirty="0" smtClean="0"/>
              <a:t>a </a:t>
            </a:r>
            <a:r>
              <a:rPr sz="2800" dirty="0"/>
              <a:t>95% threshold.</a:t>
            </a:r>
            <a:endParaRPr dirty="0"/>
          </a:p>
        </p:txBody>
      </p:sp>
      <p:pic>
        <p:nvPicPr>
          <p:cNvPr id="2051" name="Picture 3" descr="C:\Users\LENOVO\Desktop\BDM Final\final\BDM_Final_Output\linear_regression_forecast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8750" y="584200"/>
            <a:ext cx="4419600" cy="2209800"/>
          </a:xfrm>
          <a:prstGeom prst="rect">
            <a:avLst/>
          </a:prstGeom>
          <a:noFill/>
        </p:spPr>
      </p:pic>
      <p:pic>
        <p:nvPicPr>
          <p:cNvPr id="2052" name="Picture 4" descr="C:\Users\LENOVO\Desktop\BDM Final\final\BDM_Final_Output\arima_forecast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84530" y="578248"/>
            <a:ext cx="4256270" cy="2222102"/>
          </a:xfrm>
          <a:prstGeom prst="rect">
            <a:avLst/>
          </a:prstGeom>
          <a:noFill/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4845050" y="3111503"/>
            <a:ext cx="4064000" cy="1790699"/>
          </a:xfrm>
          <a:prstGeom prst="rect">
            <a:avLst/>
          </a:prstGeom>
        </p:spPr>
        <p:txBody>
          <a:bodyPr vert="horz">
            <a:normAutofit fontScale="40000" lnSpcReduction="20000"/>
          </a:bodyPr>
          <a:lstStyle/>
          <a:p>
            <a:pPr marL="420624" marR="0" lvl="0" indent="-384048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lang="en-IN" sz="3000" b="1" dirty="0" smtClean="0"/>
              <a:t>ARIMA FORECASTING</a:t>
            </a:r>
            <a:endParaRPr kumimoji="0" lang="en-IN" sz="3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20624" marR="0" lvl="0" indent="-384048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en-US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20624" lvl="0" indent="-384048" defTabSz="914400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en-US" sz="2800" b="1" dirty="0" smtClean="0"/>
              <a:t>• 	</a:t>
            </a:r>
            <a:r>
              <a:rPr lang="en-US" sz="3000" dirty="0" smtClean="0"/>
              <a:t>ARIMA effectively models </a:t>
            </a:r>
            <a:r>
              <a:rPr lang="en-US" sz="3000" b="1" dirty="0" smtClean="0"/>
              <a:t>seasonality and short-term variations</a:t>
            </a:r>
            <a:r>
              <a:rPr lang="en-US" sz="3000" dirty="0" smtClean="0"/>
              <a:t> observed in historical revenue.</a:t>
            </a:r>
            <a:endParaRPr kumimoji="0" lang="en-US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20624" lvl="0" indent="-384048" defTabSz="914400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en-US" sz="3000" b="1" dirty="0" smtClean="0"/>
              <a:t>• 	</a:t>
            </a:r>
            <a:r>
              <a:rPr lang="en-US" sz="3000" dirty="0" smtClean="0"/>
              <a:t>The forecast indicates </a:t>
            </a:r>
            <a:r>
              <a:rPr lang="en-US" sz="3000" b="1" dirty="0" smtClean="0"/>
              <a:t>stable revenue levels</a:t>
            </a:r>
            <a:r>
              <a:rPr lang="en-US" sz="3000" dirty="0" smtClean="0"/>
              <a:t> in the next 6 months with </a:t>
            </a:r>
            <a:r>
              <a:rPr lang="en-US" sz="3000" b="1" dirty="0" smtClean="0"/>
              <a:t>uncertainty bands</a:t>
            </a:r>
            <a:r>
              <a:rPr lang="en-US" sz="3000" dirty="0" smtClean="0"/>
              <a:t> reflecting demand volatility.</a:t>
            </a:r>
          </a:p>
          <a:p>
            <a:pPr marL="420624" lvl="0" indent="-384048" defTabSz="914400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en-US" sz="3000" b="1" dirty="0" smtClean="0"/>
              <a:t>• 	</a:t>
            </a:r>
            <a:r>
              <a:rPr lang="en-US" sz="3000" dirty="0" smtClean="0"/>
              <a:t>This makes ARIMA </a:t>
            </a:r>
            <a:r>
              <a:rPr lang="en-US" sz="3000" b="1" dirty="0" smtClean="0"/>
              <a:t>more suitable for operational planning</a:t>
            </a:r>
            <a:r>
              <a:rPr lang="en-US" sz="3000" dirty="0" smtClean="0"/>
              <a:t>, inventory control, and short-term decision-making.</a:t>
            </a:r>
            <a:endParaRPr kumimoji="0" lang="en-US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936750" y="2806702"/>
            <a:ext cx="622300" cy="234950"/>
          </a:xfrm>
          <a:prstGeom prst="rect">
            <a:avLst/>
          </a:prstGeom>
        </p:spPr>
        <p:txBody>
          <a:bodyPr vert="horz">
            <a:normAutofit fontScale="40000" lnSpcReduction="20000"/>
          </a:bodyPr>
          <a:lstStyle/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 sz="3000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Fig - 6</a:t>
            </a:r>
            <a:endParaRPr kumimoji="0" lang="en-I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584950" y="2809876"/>
            <a:ext cx="622300" cy="234950"/>
          </a:xfrm>
          <a:prstGeom prst="rect">
            <a:avLst/>
          </a:prstGeom>
        </p:spPr>
        <p:txBody>
          <a:bodyPr vert="horz">
            <a:normAutofit fontScale="40000" lnSpcReduction="20000"/>
          </a:bodyPr>
          <a:lstStyle/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 sz="3000"/>
            </a:pPr>
            <a:r>
              <a:rPr kumimoji="0" lang="en-I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Fig - 7</a:t>
            </a:r>
            <a:endParaRPr kumimoji="0" lang="en-I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855082" y="4809753"/>
            <a:ext cx="34924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8</a:t>
            </a:r>
            <a:endParaRPr lang="en-US" sz="1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4819650" y="764780"/>
            <a:ext cx="4203700" cy="4105671"/>
          </a:xfrm>
          <a:prstGeom prst="round2Diag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 Diagonal Corner Rectangle 5"/>
          <p:cNvSpPr/>
          <p:nvPr/>
        </p:nvSpPr>
        <p:spPr>
          <a:xfrm>
            <a:off x="152403" y="777479"/>
            <a:ext cx="4470399" cy="4086621"/>
          </a:xfrm>
          <a:prstGeom prst="round2Diag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450" y="-92471"/>
            <a:ext cx="746760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dirty="0" smtClean="0">
                <a:latin typeface="Algerian" pitchFamily="82" charset="0"/>
              </a:rPr>
              <a:t>STRATEGIC RECOMMENDATION</a:t>
            </a:r>
            <a:endParaRPr sz="32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950" y="1149350"/>
            <a:ext cx="4476750" cy="4000500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sz="4000" b="1" dirty="0" smtClean="0"/>
              <a:t>• 	Improve Seasonal Inventory Planning </a:t>
            </a:r>
          </a:p>
          <a:p>
            <a:pPr>
              <a:buNone/>
            </a:pPr>
            <a:r>
              <a:rPr lang="en-US" sz="4000" b="1" dirty="0" smtClean="0"/>
              <a:t>	</a:t>
            </a:r>
            <a:r>
              <a:rPr lang="en-US" sz="4000" dirty="0" smtClean="0"/>
              <a:t>Stock Ghee, </a:t>
            </a:r>
            <a:r>
              <a:rPr lang="en-US" sz="4000" dirty="0" err="1" smtClean="0"/>
              <a:t>Paneer</a:t>
            </a:r>
            <a:r>
              <a:rPr lang="en-US" sz="4000" dirty="0" smtClean="0"/>
              <a:t>, and Full-Fat Milk aggressively before Oct–Jan (winter &amp; festive season) and scale down summer inventory to reduce spoilage and holding costs.</a:t>
            </a:r>
          </a:p>
          <a:p>
            <a:pPr>
              <a:buNone/>
            </a:pPr>
            <a:endParaRPr lang="en-US" sz="4000" dirty="0" smtClean="0"/>
          </a:p>
          <a:p>
            <a:pPr>
              <a:buNone/>
            </a:pPr>
            <a:r>
              <a:rPr lang="en-US" sz="4000" b="1" dirty="0" smtClean="0"/>
              <a:t>• 	Strengthen Summer Beverage Portfolio</a:t>
            </a:r>
          </a:p>
          <a:p>
            <a:pPr>
              <a:buNone/>
            </a:pPr>
            <a:r>
              <a:rPr lang="en-US" sz="4000" dirty="0" smtClean="0"/>
              <a:t>	Increase production and visibility of </a:t>
            </a:r>
            <a:r>
              <a:rPr lang="en-US" sz="4000" b="1" dirty="0" err="1" smtClean="0"/>
              <a:t>Mattha</a:t>
            </a:r>
            <a:r>
              <a:rPr lang="en-US" sz="4000" b="1" dirty="0" smtClean="0"/>
              <a:t>, </a:t>
            </a:r>
            <a:r>
              <a:rPr lang="en-US" sz="4000" b="1" dirty="0" err="1" smtClean="0"/>
              <a:t>Lassi</a:t>
            </a:r>
            <a:r>
              <a:rPr lang="en-US" sz="4000" b="1" dirty="0" smtClean="0"/>
              <a:t>, and Curd</a:t>
            </a:r>
            <a:r>
              <a:rPr lang="en-US" sz="4000" dirty="0" smtClean="0"/>
              <a:t> during </a:t>
            </a:r>
            <a:r>
              <a:rPr lang="en-US" sz="4000" b="1" dirty="0" smtClean="0"/>
              <a:t>Apr–Jun</a:t>
            </a:r>
            <a:r>
              <a:rPr lang="en-US" sz="4000" dirty="0" smtClean="0"/>
              <a:t> to stabilize revenue during low-demand months and reduce seasonal volatility.</a:t>
            </a:r>
          </a:p>
          <a:p>
            <a:pPr>
              <a:buNone/>
            </a:pPr>
            <a:endParaRPr lang="en-US" sz="4000" dirty="0" smtClean="0"/>
          </a:p>
          <a:p>
            <a:pPr>
              <a:buNone/>
            </a:pPr>
            <a:r>
              <a:rPr lang="en-US" sz="4000" b="1" dirty="0" smtClean="0"/>
              <a:t>• 	Focus on High-Impact SKUs (Pareto Strategy)</a:t>
            </a:r>
          </a:p>
          <a:p>
            <a:pPr>
              <a:buNone/>
            </a:pPr>
            <a:r>
              <a:rPr lang="en-US" sz="4000" dirty="0" smtClean="0"/>
              <a:t>	Prioritize procurement, quality control, and distribution for </a:t>
            </a:r>
            <a:r>
              <a:rPr lang="en-US" sz="4000" b="1" dirty="0" smtClean="0"/>
              <a:t>top revenue-generating SKUs</a:t>
            </a:r>
            <a:r>
              <a:rPr lang="en-US" sz="4000" dirty="0" smtClean="0"/>
              <a:t> (Ghee Teen, Fresh Milk, Milk Pouches) which contribute </a:t>
            </a:r>
            <a:r>
              <a:rPr lang="en-US" sz="4000" b="1" dirty="0" smtClean="0"/>
              <a:t>~75–80% of total revenue</a:t>
            </a:r>
            <a:r>
              <a:rPr lang="en-US" sz="4000" dirty="0" smtClean="0"/>
              <a:t>.</a:t>
            </a:r>
          </a:p>
          <a:p>
            <a:pPr>
              <a:defRPr sz="2400"/>
            </a:pPr>
            <a:endParaRPr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946650" y="1114031"/>
            <a:ext cx="4102100" cy="3832621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/>
          <a:p>
            <a:r>
              <a:rPr lang="en-US" sz="1400" b="1" dirty="0" smtClean="0"/>
              <a:t>• 	</a:t>
            </a:r>
            <a:r>
              <a:rPr lang="en-US" sz="1500" b="1" dirty="0" smtClean="0"/>
              <a:t>Optimize Low-Performing Products</a:t>
            </a:r>
          </a:p>
          <a:p>
            <a:r>
              <a:rPr lang="en-US" sz="1500" dirty="0" smtClean="0"/>
              <a:t>	Revamp </a:t>
            </a:r>
            <a:r>
              <a:rPr lang="en-US" sz="1500" b="1" dirty="0" smtClean="0"/>
              <a:t>low-contribution SKUs</a:t>
            </a:r>
            <a:r>
              <a:rPr lang="en-US" sz="1500" dirty="0" smtClean="0"/>
              <a:t> through 	</a:t>
            </a:r>
            <a:r>
              <a:rPr lang="en-US" sz="1500" b="1" dirty="0" smtClean="0"/>
              <a:t>combo offers, repackaging, promotions</a:t>
            </a:r>
            <a:r>
              <a:rPr lang="en-US" sz="1500" dirty="0" smtClean="0"/>
              <a:t>, 	or </a:t>
            </a:r>
            <a:r>
              <a:rPr lang="en-US" sz="1500" b="1" dirty="0" smtClean="0"/>
              <a:t>gradual discontinuation</a:t>
            </a:r>
            <a:r>
              <a:rPr lang="en-US" sz="1500" dirty="0" smtClean="0"/>
              <a:t> to optimize 	shelf 	space and costs.</a:t>
            </a:r>
          </a:p>
          <a:p>
            <a:endParaRPr lang="en-US" sz="1500" dirty="0" smtClean="0"/>
          </a:p>
          <a:p>
            <a:r>
              <a:rPr lang="en-US" sz="1500" b="1" dirty="0" smtClean="0"/>
              <a:t>• 	Strengthen Distributor &amp; Retail Network</a:t>
            </a:r>
          </a:p>
          <a:p>
            <a:r>
              <a:rPr lang="en-US" sz="1500" dirty="0" smtClean="0"/>
              <a:t>	Offer </a:t>
            </a:r>
            <a:r>
              <a:rPr lang="en-US" sz="1500" b="1" dirty="0" smtClean="0"/>
              <a:t>seasonal incentives, volume 		discounts, and loyalty schemes</a:t>
            </a:r>
            <a:r>
              <a:rPr lang="en-US" sz="1500" dirty="0" smtClean="0"/>
              <a:t> to retailers 	to ensure consistent off-take and support 	regional expansion.</a:t>
            </a:r>
          </a:p>
          <a:p>
            <a:pPr>
              <a:buNone/>
            </a:pPr>
            <a:endParaRPr lang="en-US" sz="1500" dirty="0" smtClean="0"/>
          </a:p>
          <a:p>
            <a:pPr>
              <a:buNone/>
            </a:pPr>
            <a:r>
              <a:rPr lang="en-US" sz="1500" b="1" dirty="0" smtClean="0"/>
              <a:t>• 	Data-Driven Forecasting &amp; Planning</a:t>
            </a:r>
          </a:p>
          <a:p>
            <a:pPr>
              <a:buNone/>
            </a:pPr>
            <a:r>
              <a:rPr lang="en-US" sz="1500" dirty="0" smtClean="0"/>
              <a:t>	Use </a:t>
            </a:r>
            <a:r>
              <a:rPr lang="en-US" sz="1500" b="1" dirty="0" smtClean="0"/>
              <a:t>ARIMA and trend-based forecasting</a:t>
            </a:r>
            <a:r>
              <a:rPr lang="en-US" sz="1500" dirty="0" smtClean="0"/>
              <a:t> to 	plan monthly production, working capital, and 	procurement instead of relying on intuition.</a:t>
            </a:r>
          </a:p>
          <a:p>
            <a:endParaRPr lang="en-US" sz="1400" dirty="0" smtClean="0"/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66182" y="4784353"/>
            <a:ext cx="349243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9</a:t>
            </a:r>
            <a:endParaRPr lang="en-US" sz="1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Diagonal Corner Rectangle 4"/>
          <p:cNvSpPr/>
          <p:nvPr/>
        </p:nvSpPr>
        <p:spPr>
          <a:xfrm>
            <a:off x="152403" y="777479"/>
            <a:ext cx="4470399" cy="4086621"/>
          </a:xfrm>
          <a:prstGeom prst="round2Diag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 Diagonal Corner Rectangle 5"/>
          <p:cNvSpPr/>
          <p:nvPr/>
        </p:nvSpPr>
        <p:spPr>
          <a:xfrm>
            <a:off x="4819650" y="764780"/>
            <a:ext cx="4203700" cy="4105671"/>
          </a:xfrm>
          <a:prstGeom prst="round2DiagRect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400" y="-60721"/>
            <a:ext cx="7467600" cy="857250"/>
          </a:xfrm>
        </p:spPr>
        <p:txBody>
          <a:bodyPr>
            <a:normAutofit/>
          </a:bodyPr>
          <a:lstStyle/>
          <a:p>
            <a:pPr algn="ctr"/>
            <a:r>
              <a:rPr lang="en-IN" sz="3200" dirty="0" smtClean="0">
                <a:latin typeface="Algerian" pitchFamily="82" charset="0"/>
              </a:rPr>
              <a:t>CONCLUSION AND IMPACT</a:t>
            </a:r>
            <a:endParaRPr sz="3200" dirty="0">
              <a:latin typeface="Algerian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09651"/>
            <a:ext cx="4178300" cy="3394472"/>
          </a:xfrm>
        </p:spPr>
        <p:txBody>
          <a:bodyPr>
            <a:normAutofit fontScale="25000" lnSpcReduction="20000"/>
          </a:bodyPr>
          <a:lstStyle/>
          <a:p>
            <a:pPr algn="ctr">
              <a:buNone/>
            </a:pPr>
            <a:r>
              <a:rPr lang="en-US" sz="6400" b="1" dirty="0" smtClean="0"/>
              <a:t>Conclusion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dirty="0" smtClean="0"/>
              <a:t>•	</a:t>
            </a:r>
            <a:r>
              <a:rPr lang="en-US" sz="5200" dirty="0" smtClean="0"/>
              <a:t>The 12-month sales and Pareto analysis revealed </a:t>
            </a:r>
            <a:r>
              <a:rPr lang="en-US" sz="5200" b="1" dirty="0" smtClean="0"/>
              <a:t>strong seasonality and high dependence on a few core products</a:t>
            </a:r>
            <a:r>
              <a:rPr lang="en-US" sz="5200" dirty="0" smtClean="0"/>
              <a:t>, especially during winter months.</a:t>
            </a:r>
          </a:p>
          <a:p>
            <a:pPr>
              <a:buNone/>
            </a:pPr>
            <a:endParaRPr lang="en-US" sz="5200" dirty="0" smtClean="0"/>
          </a:p>
          <a:p>
            <a:pPr>
              <a:buNone/>
            </a:pPr>
            <a:r>
              <a:rPr lang="en-US" sz="5200" dirty="0" smtClean="0"/>
              <a:t>•	Product-level analysis helped identify </a:t>
            </a:r>
            <a:r>
              <a:rPr lang="en-US" sz="5200" b="1" dirty="0" smtClean="0"/>
              <a:t>high-performing SKUs and consistently low-performing items</a:t>
            </a:r>
            <a:r>
              <a:rPr lang="en-US" sz="5200" dirty="0" smtClean="0"/>
              <a:t>, enabling focused decision-making.</a:t>
            </a:r>
          </a:p>
          <a:p>
            <a:pPr>
              <a:buNone/>
            </a:pPr>
            <a:endParaRPr lang="en-US" sz="5200" dirty="0" smtClean="0"/>
          </a:p>
          <a:p>
            <a:pPr>
              <a:buNone/>
            </a:pPr>
            <a:r>
              <a:rPr lang="en-US" sz="5200" dirty="0" smtClean="0"/>
              <a:t>•	Forecasting models (Linear Regression &amp; ARIMA) indicated </a:t>
            </a:r>
            <a:r>
              <a:rPr lang="en-US" sz="5200" b="1" dirty="0" smtClean="0"/>
              <a:t>stable long-term growth</a:t>
            </a:r>
            <a:r>
              <a:rPr lang="en-US" sz="5200" dirty="0" smtClean="0"/>
              <a:t>, despite short-term seasonal fluctuations.</a:t>
            </a:r>
          </a:p>
          <a:p>
            <a:pPr>
              <a:buNone/>
            </a:pPr>
            <a:endParaRPr lang="en-US" sz="5200" dirty="0" smtClean="0"/>
          </a:p>
          <a:p>
            <a:pPr>
              <a:buNone/>
            </a:pPr>
            <a:r>
              <a:rPr lang="en-US" sz="5200" dirty="0" smtClean="0"/>
              <a:t>•	Overall, the analysis provided a </a:t>
            </a:r>
            <a:r>
              <a:rPr lang="en-US" sz="5200" b="1" dirty="0" smtClean="0"/>
              <a:t>data-driven foundation for inventory planning, production alignment, and strategic expansion</a:t>
            </a:r>
            <a:r>
              <a:rPr lang="en-US" sz="5200" dirty="0" smtClean="0"/>
              <a:t>.</a:t>
            </a:r>
          </a:p>
          <a:p>
            <a:pPr>
              <a:buNone/>
              <a:defRPr sz="2400"/>
            </a:pPr>
            <a:endParaRPr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883150" y="958852"/>
            <a:ext cx="4178300" cy="3394472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/>
          <a:p>
            <a:pPr algn="ctr"/>
            <a:r>
              <a:rPr lang="en-US" sz="1600" b="1" dirty="0" smtClean="0"/>
              <a:t>Impact</a:t>
            </a:r>
          </a:p>
          <a:p>
            <a:pPr algn="ctr"/>
            <a:endParaRPr lang="en-US" sz="800" b="1" dirty="0" smtClean="0"/>
          </a:p>
          <a:p>
            <a:r>
              <a:rPr lang="en-US" sz="1300" dirty="0" smtClean="0"/>
              <a:t>•	</a:t>
            </a:r>
            <a:r>
              <a:rPr lang="en-US" sz="1300" b="1" dirty="0" smtClean="0"/>
              <a:t>Improved inventory efficiency</a:t>
            </a:r>
            <a:r>
              <a:rPr lang="en-US" sz="1300" dirty="0" smtClean="0"/>
              <a:t> by aligning stock 	levels with seasonal demand, reducing wastage and 	stock-outs.</a:t>
            </a:r>
          </a:p>
          <a:p>
            <a:endParaRPr lang="en-US" sz="1300" dirty="0" smtClean="0"/>
          </a:p>
          <a:p>
            <a:r>
              <a:rPr lang="en-US" sz="1300" dirty="0" smtClean="0"/>
              <a:t>•	</a:t>
            </a:r>
            <a:r>
              <a:rPr lang="en-US" sz="1300" b="1" dirty="0" smtClean="0"/>
              <a:t>Higher revenue potential</a:t>
            </a:r>
            <a:r>
              <a:rPr lang="en-US" sz="1300" dirty="0" smtClean="0"/>
              <a:t> through prioritization of 	top-contributing SKUs and 	better preparation for 	peak winter demand.</a:t>
            </a:r>
          </a:p>
          <a:p>
            <a:endParaRPr lang="en-US" sz="1300" dirty="0" smtClean="0"/>
          </a:p>
          <a:p>
            <a:r>
              <a:rPr lang="en-US" sz="1300" dirty="0" smtClean="0"/>
              <a:t>•	</a:t>
            </a:r>
            <a:r>
              <a:rPr lang="en-US" sz="1300" b="1" dirty="0" smtClean="0"/>
              <a:t>Reduced business risk</a:t>
            </a:r>
            <a:r>
              <a:rPr lang="en-US" sz="1300" dirty="0" smtClean="0"/>
              <a:t> by identifying opportunities 	to diversify revenue 	beyond a few core products.</a:t>
            </a:r>
          </a:p>
          <a:p>
            <a:endParaRPr lang="en-US" sz="1300" dirty="0" smtClean="0"/>
          </a:p>
          <a:p>
            <a:r>
              <a:rPr lang="en-US" sz="1300" dirty="0" smtClean="0"/>
              <a:t>•	</a:t>
            </a:r>
            <a:r>
              <a:rPr lang="en-US" sz="1300" b="1" dirty="0" smtClean="0"/>
              <a:t>Stronger decision-making capability</a:t>
            </a:r>
            <a:r>
              <a:rPr lang="en-US" sz="1300" dirty="0" smtClean="0"/>
              <a:t> using 	predictive forecasting for 	budgeting, procurement, 	and working capital planning.</a:t>
            </a:r>
          </a:p>
          <a:p>
            <a:endParaRPr lang="en-US" sz="1300" dirty="0" smtClean="0"/>
          </a:p>
          <a:p>
            <a:r>
              <a:rPr lang="en-US" sz="1300" dirty="0" smtClean="0"/>
              <a:t>•	</a:t>
            </a:r>
            <a:r>
              <a:rPr lang="en-US" sz="1300" b="1" dirty="0" smtClean="0"/>
              <a:t>Clear roadmap for scalable growth</a:t>
            </a:r>
            <a:r>
              <a:rPr lang="en-US" sz="1300" dirty="0" smtClean="0"/>
              <a:t>, supporting 	the firm’s long-term goal of achieving a ₹100 	</a:t>
            </a:r>
            <a:r>
              <a:rPr lang="en-US" sz="1300" dirty="0" err="1" smtClean="0"/>
              <a:t>crore</a:t>
            </a:r>
            <a:r>
              <a:rPr lang="en-US" sz="1300" dirty="0" smtClean="0"/>
              <a:t> valuation.</a:t>
            </a:r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 sz="2400"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24900" y="4784353"/>
            <a:ext cx="434975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16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10</a:t>
            </a:r>
            <a:endParaRPr lang="en-US" sz="16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">
  <a:themeElements>
    <a:clrScheme name="Custom 24">
      <a:dk1>
        <a:srgbClr val="00040C"/>
      </a:dk1>
      <a:lt1>
        <a:srgbClr val="00040C"/>
      </a:lt1>
      <a:dk2>
        <a:srgbClr val="FFCE39"/>
      </a:dk2>
      <a:lt2>
        <a:srgbClr val="FFFF00"/>
      </a:lt2>
      <a:accent1>
        <a:srgbClr val="6EA0B0"/>
      </a:accent1>
      <a:accent2>
        <a:srgbClr val="EBCA0C"/>
      </a:accent2>
      <a:accent3>
        <a:srgbClr val="FFD965"/>
      </a:accent3>
      <a:accent4>
        <a:srgbClr val="F9E98E"/>
      </a:accent4>
      <a:accent5>
        <a:srgbClr val="FFC000"/>
      </a:accent5>
      <a:accent6>
        <a:srgbClr val="FFD965"/>
      </a:accent6>
      <a:hlink>
        <a:srgbClr val="45FFFA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1194</TotalTime>
  <Words>474</Words>
  <Application>Microsoft Office PowerPoint</Application>
  <PresentationFormat>On-screen Show (16:9)</PresentationFormat>
  <Paragraphs>168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Technic</vt:lpstr>
      <vt:lpstr>Revenue Optimization and Demand Forecasting Analysis of a Dairy Firm</vt:lpstr>
      <vt:lpstr>BRIEF OVERVIEW OF SHREE MAA DAIRY</vt:lpstr>
      <vt:lpstr>INTRODUCTION</vt:lpstr>
      <vt:lpstr>SOURCE OF DATA AND DATA CLEANING METHODS</vt:lpstr>
      <vt:lpstr>DESCRIPTIVE STATISTICAL ANALYSIS</vt:lpstr>
      <vt:lpstr>TOTAL REVENUE IN EACH MONTH</vt:lpstr>
      <vt:lpstr>PRODUCT PERFORMANCE AND REVENUE INSIGHT</vt:lpstr>
      <vt:lpstr>DEMAND FORECASTING</vt:lpstr>
      <vt:lpstr>STRATEGIC RECOMMENDATION</vt:lpstr>
      <vt:lpstr>CONCLUSION AND IMPACT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Data Management Capstone Project</dc:title>
  <dc:subject/>
  <dc:creator/>
  <cp:keywords/>
  <dc:description>generated using python-pptx</dc:description>
  <cp:lastModifiedBy>LENOVO</cp:lastModifiedBy>
  <cp:revision>60</cp:revision>
  <dcterms:created xsi:type="dcterms:W3CDTF">2013-01-27T09:14:16Z</dcterms:created>
  <dcterms:modified xsi:type="dcterms:W3CDTF">2025-12-23T21:44:10Z</dcterms:modified>
  <cp:category/>
</cp:coreProperties>
</file>